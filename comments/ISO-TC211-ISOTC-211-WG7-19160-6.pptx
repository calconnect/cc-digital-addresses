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0" r:id="rId2"/>
    <p:sldId id="259" r:id="rId3"/>
  </p:sldIdLst>
  <p:sldSz cx="9144000" cy="6858000" type="screen4x3"/>
  <p:notesSz cx="6858000" cy="9144000"/>
  <p:defaultTextStyle>
    <a:defPPr>
      <a:defRPr lang="en-ZA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D1A"/>
    <a:srgbClr val="006699"/>
    <a:srgbClr val="88BD2F"/>
    <a:srgbClr val="0070B1"/>
    <a:srgbClr val="E481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48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B9785889-A136-4B49-9C0F-8A0560695A57}" type="datetimeFigureOut">
              <a:rPr lang="en-ZA" altLang="en-US"/>
              <a:pPr>
                <a:defRPr/>
              </a:pPr>
              <a:t>2019/12/11</a:t>
            </a:fld>
            <a:endParaRPr lang="en-ZA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94A9E61C-7CB4-4CE4-A04B-8D2BB8053AA3}" type="slidenum">
              <a:rPr lang="en-ZA" altLang="en-US"/>
              <a:pPr>
                <a:defRPr/>
              </a:pPr>
              <a:t>‹#›</a:t>
            </a:fld>
            <a:endParaRPr lang="en-ZA" altLang="en-US"/>
          </a:p>
        </p:txBody>
      </p:sp>
    </p:spTree>
    <p:extLst>
      <p:ext uri="{BB962C8B-B14F-4D97-AF65-F5344CB8AC3E}">
        <p14:creationId xmlns:p14="http://schemas.microsoft.com/office/powerpoint/2010/main" val="3156040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6739"/>
            <a:ext cx="9144000" cy="5473898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43486" y="1859449"/>
            <a:ext cx="5659200" cy="692150"/>
          </a:xfrm>
          <a:prstGeom prst="rect">
            <a:avLst/>
          </a:prstGeom>
        </p:spPr>
        <p:txBody>
          <a:bodyPr lIns="0" tIns="0" rIns="0" bIns="0" rtlCol="0">
            <a:noAutofit/>
          </a:bodyPr>
          <a:lstStyle>
            <a:lvl1pPr algn="ctr">
              <a:defRPr lang="en-GB" sz="2800" b="1">
                <a:solidFill>
                  <a:srgbClr val="37609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1743486" y="2743151"/>
            <a:ext cx="5659200" cy="217855"/>
          </a:xfrm>
        </p:spPr>
        <p:txBody>
          <a:bodyPr lIns="0" tIns="0" rIns="0" bIns="0" rtlCol="0" anchor="ctr">
            <a:noAutofit/>
          </a:bodyPr>
          <a:lstStyle>
            <a:lvl1pPr algn="ctr">
              <a:buFontTx/>
              <a:buNone/>
              <a:tabLst/>
              <a:defRPr lang="en-US" sz="1400" smtClean="0">
                <a:solidFill>
                  <a:srgbClr val="404040"/>
                </a:solidFill>
              </a:defRPr>
            </a:lvl1pPr>
            <a:lvl2pPr marL="0" indent="0">
              <a:buFontTx/>
              <a:buNone/>
              <a:tabLst/>
              <a:defRPr lang="en-US" smtClean="0"/>
            </a:lvl2pPr>
            <a:lvl3pPr marL="1588" indent="0">
              <a:buFontTx/>
              <a:buNone/>
              <a:tabLst/>
              <a:defRPr lang="en-US" smtClean="0"/>
            </a:lvl3pPr>
            <a:lvl4pPr marL="0" indent="0">
              <a:buFontTx/>
              <a:buNone/>
              <a:tabLst/>
              <a:defRPr lang="en-US" smtClean="0"/>
            </a:lvl4pPr>
            <a:lvl5pPr marL="0" indent="0">
              <a:buFontTx/>
              <a:buNone/>
              <a:tabLst/>
              <a:defRPr lang="en-GB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3" y="5940258"/>
            <a:ext cx="819150" cy="752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809" y="5948280"/>
            <a:ext cx="761224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894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Placeholder 28"/>
          <p:cNvSpPr>
            <a:spLocks noGrp="1"/>
          </p:cNvSpPr>
          <p:nvPr>
            <p:ph type="title"/>
          </p:nvPr>
        </p:nvSpPr>
        <p:spPr>
          <a:xfrm>
            <a:off x="457200" y="8549"/>
            <a:ext cx="8229600" cy="756156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678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37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Text Page - AfriG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2575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28"/>
          <p:cNvSpPr>
            <a:spLocks noGrp="1"/>
          </p:cNvSpPr>
          <p:nvPr>
            <p:ph type="title"/>
          </p:nvPr>
        </p:nvSpPr>
        <p:spPr>
          <a:xfrm>
            <a:off x="457200" y="8549"/>
            <a:ext cx="8229600" cy="75345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280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Text Page - AfriG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72575" cy="127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1926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itle Placeholder 28"/>
          <p:cNvSpPr>
            <a:spLocks noGrp="1"/>
          </p:cNvSpPr>
          <p:nvPr>
            <p:ph type="title"/>
          </p:nvPr>
        </p:nvSpPr>
        <p:spPr>
          <a:xfrm>
            <a:off x="457200" y="8549"/>
            <a:ext cx="8229600" cy="753452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13830B-C61A-4BE7-9AFF-01B5D2C7F81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67536" y="1600200"/>
            <a:ext cx="4019266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7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930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2718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8"/>
          <p:cNvSpPr>
            <a:spLocks noGrp="1"/>
          </p:cNvSpPr>
          <p:nvPr>
            <p:ph type="title"/>
          </p:nvPr>
        </p:nvSpPr>
        <p:spPr bwMode="auto">
          <a:xfrm>
            <a:off x="457200" y="7938"/>
            <a:ext cx="82296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ZA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79425" y="1484313"/>
            <a:ext cx="8207375" cy="464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  <a:endParaRPr lang="en-ZA" altLang="en-US" dirty="0"/>
          </a:p>
        </p:txBody>
      </p:sp>
      <p:sp>
        <p:nvSpPr>
          <p:cNvPr id="11" name="Slide Number Placeholder 5"/>
          <p:cNvSpPr txBox="1">
            <a:spLocks/>
          </p:cNvSpPr>
          <p:nvPr/>
        </p:nvSpPr>
        <p:spPr>
          <a:xfrm>
            <a:off x="2935288" y="6581582"/>
            <a:ext cx="3589248" cy="13849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900" dirty="0"/>
              <a:t>ISO/TC211 Geographic information/Geomatics   Copyright 2014 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919163" y="6332538"/>
            <a:ext cx="0" cy="52546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3" name="TextBox 13"/>
          <p:cNvSpPr txBox="1">
            <a:spLocks noChangeArrowheads="1"/>
          </p:cNvSpPr>
          <p:nvPr/>
        </p:nvSpPr>
        <p:spPr bwMode="auto">
          <a:xfrm>
            <a:off x="7243763" y="6503988"/>
            <a:ext cx="200025" cy="13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fld id="{DB66488F-F4CE-4FFA-823B-A9FE1B6D5156}" type="slidenum">
              <a:rPr lang="en-GB" altLang="en-US" sz="90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‹#›</a:t>
            </a:fld>
            <a:endParaRPr lang="en-GB" altLang="en-US" sz="900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35288" y="6423025"/>
            <a:ext cx="2073275" cy="138113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fld id="{20666C5D-F6A3-4BE9-8811-DA2F390CDA91}" type="datetime3">
              <a:rPr lang="en-ZA" altLang="en-US" sz="900" smtClean="0">
                <a:solidFill>
                  <a:srgbClr val="898989"/>
                </a:solidFill>
                <a:latin typeface="Arial" pitchFamily="34" charset="0"/>
              </a:rPr>
              <a:pPr>
                <a:defRPr/>
              </a:pPr>
              <a:t>11 December 2019</a:t>
            </a:fld>
            <a:endParaRPr lang="en-GB" altLang="en-US" sz="900" dirty="0">
              <a:solidFill>
                <a:srgbClr val="898989"/>
              </a:solidFill>
              <a:latin typeface="Arial" pitchFamily="34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2752725" y="6332538"/>
            <a:ext cx="0" cy="525462"/>
          </a:xfrm>
          <a:prstGeom prst="line">
            <a:avLst/>
          </a:prstGeom>
          <a:ln w="12700">
            <a:solidFill>
              <a:schemeClr val="accent2">
                <a:lumMod val="60000"/>
                <a:lumOff val="4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Date Placeholder 3"/>
          <p:cNvSpPr txBox="1">
            <a:spLocks/>
          </p:cNvSpPr>
          <p:nvPr/>
        </p:nvSpPr>
        <p:spPr>
          <a:xfrm rot="16200000">
            <a:off x="-1124743" y="4409281"/>
            <a:ext cx="2843212" cy="365125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ZA" altLang="en-US" sz="700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Confidential © 2015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46" r:id="rId2"/>
    <p:sldLayoutId id="2147483747" r:id="rId3"/>
    <p:sldLayoutId id="2147483751" r:id="rId4"/>
    <p:sldLayoutId id="2147483752" r:id="rId5"/>
    <p:sldLayoutId id="2147483748" r:id="rId6"/>
    <p:sldLayoutId id="2147483749" r:id="rId7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2800" kern="1200">
          <a:solidFill>
            <a:srgbClr val="376092"/>
          </a:solidFill>
          <a:latin typeface="Arial"/>
          <a:ea typeface="MS PGothic" pitchFamily="34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  <a:cs typeface="Arial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  <a:cs typeface="Arial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  <a:cs typeface="Arial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  <a:cs typeface="Arial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800">
          <a:solidFill>
            <a:srgbClr val="376092"/>
          </a:solidFill>
          <a:latin typeface="Arial" pitchFamily="34" charset="0"/>
          <a:ea typeface="MS PGothic" pitchFamily="34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Arial"/>
          <a:ea typeface="MS PGothic" pitchFamily="34" charset="-128"/>
          <a:cs typeface="Arial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Arial"/>
          <a:ea typeface="MS PGothic" pitchFamily="34" charset="-128"/>
          <a:cs typeface="Arial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Arial"/>
          <a:ea typeface="MS PGothic" pitchFamily="34" charset="-128"/>
          <a:cs typeface="Arial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tx1">
              <a:lumMod val="75000"/>
              <a:lumOff val="25000"/>
            </a:schemeClr>
          </a:solidFill>
          <a:latin typeface="Arial"/>
          <a:ea typeface="MS PGothic" pitchFamily="34" charset="-128"/>
          <a:cs typeface="Arial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>
              <a:lumMod val="75000"/>
              <a:lumOff val="25000"/>
            </a:schemeClr>
          </a:solidFill>
          <a:latin typeface="Arial"/>
          <a:ea typeface="MS PGothic" pitchFamily="34" charset="-128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Arial" charset="0"/>
                <a:cs typeface="Arial" charset="0"/>
              </a:rPr>
              <a:t>Key achievements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Went through all 57 comments Monday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New PL: Ronald Tse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“Address Profile Registry” incorporated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Explained 19160-* relationships</a:t>
            </a:r>
          </a:p>
          <a:p>
            <a:pPr lvl="1"/>
            <a:r>
              <a:rPr lang="en-US" altLang="en-US" dirty="0">
                <a:latin typeface="Arial" charset="0"/>
                <a:cs typeface="Arial" charset="0"/>
              </a:rPr>
              <a:t>New attribute table view and diagrams</a:t>
            </a: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  <a:p>
            <a:pPr lvl="1"/>
            <a:endParaRPr lang="en-US" altLang="en-US" dirty="0">
              <a:latin typeface="Arial" charset="0"/>
              <a:cs typeface="Arial" charset="0"/>
            </a:endParaRPr>
          </a:p>
        </p:txBody>
      </p:sp>
      <p:sp>
        <p:nvSpPr>
          <p:cNvPr id="5123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eaLnBrk="1" hangingPunct="1">
              <a:tabLst>
                <a:tab pos="3997325" algn="l"/>
              </a:tabLst>
            </a:pPr>
            <a:r>
              <a:rPr lang="en-US" altLang="en-US" dirty="0">
                <a:latin typeface="Arial" charset="0"/>
                <a:cs typeface="Arial" charset="0"/>
              </a:rPr>
              <a:t>WG7/19160-6	</a:t>
            </a:r>
            <a:r>
              <a:rPr lang="en-US" altLang="en-US" sz="2400" i="1" dirty="0">
                <a:latin typeface="Arial" charset="0"/>
                <a:cs typeface="Arial" charset="0"/>
              </a:rPr>
              <a:t>Ronald Tse (CalConnect)</a:t>
            </a:r>
          </a:p>
        </p:txBody>
      </p:sp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C62FA7B-B1EA-426C-A8CF-62FDB6E54EF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en-US" dirty="0">
                <a:latin typeface="Arial" charset="0"/>
                <a:cs typeface="Arial" charset="0"/>
              </a:rPr>
              <a:t>Next to come</a:t>
            </a:r>
          </a:p>
          <a:p>
            <a:pPr lvl="1"/>
            <a:r>
              <a:rPr lang="fr-CA" dirty="0"/>
              <a:t>Document </a:t>
            </a:r>
            <a:r>
              <a:rPr lang="fr-CA" dirty="0" err="1"/>
              <a:t>will</a:t>
            </a:r>
            <a:r>
              <a:rPr lang="fr-CA" dirty="0"/>
              <a:t> </a:t>
            </a:r>
            <a:r>
              <a:rPr lang="fr-CA" dirty="0" err="1"/>
              <a:t>be</a:t>
            </a:r>
            <a:r>
              <a:rPr lang="fr-CA" dirty="0"/>
              <a:t> </a:t>
            </a:r>
            <a:r>
              <a:rPr lang="fr-CA" dirty="0" err="1"/>
              <a:t>circulated</a:t>
            </a:r>
            <a:r>
              <a:rPr lang="fr-CA" dirty="0"/>
              <a:t> </a:t>
            </a:r>
            <a:r>
              <a:rPr lang="fr-CA" dirty="0" err="1"/>
              <a:t>next</a:t>
            </a:r>
            <a:r>
              <a:rPr lang="fr-CA" dirty="0"/>
              <a:t> </a:t>
            </a:r>
            <a:r>
              <a:rPr lang="fr-CA" dirty="0" err="1"/>
              <a:t>week</a:t>
            </a:r>
            <a:endParaRPr lang="fr-CA" dirty="0"/>
          </a:p>
          <a:p>
            <a:pPr lvl="1"/>
            <a:r>
              <a:rPr lang="fr-CA" dirty="0"/>
              <a:t>Ballot </a:t>
            </a:r>
            <a:r>
              <a:rPr lang="fr-CA" dirty="0" err="1"/>
              <a:t>before</a:t>
            </a:r>
            <a:r>
              <a:rPr lang="fr-CA" dirty="0"/>
              <a:t> 2020 New </a:t>
            </a:r>
            <a:r>
              <a:rPr lang="fr-CA" dirty="0" err="1"/>
              <a:t>Year</a:t>
            </a:r>
            <a:endParaRPr lang="fr-CA" dirty="0"/>
          </a:p>
          <a:p>
            <a:pPr lvl="1"/>
            <a:r>
              <a:rPr lang="fr-CA" dirty="0" err="1"/>
              <a:t>Allows</a:t>
            </a:r>
            <a:r>
              <a:rPr lang="fr-CA" dirty="0"/>
              <a:t> ballot to </a:t>
            </a:r>
            <a:r>
              <a:rPr lang="fr-CA" dirty="0" err="1"/>
              <a:t>determine</a:t>
            </a:r>
            <a:r>
              <a:rPr lang="fr-CA" dirty="0"/>
              <a:t> </a:t>
            </a:r>
            <a:r>
              <a:rPr lang="fr-CA" dirty="0" err="1"/>
              <a:t>whether</a:t>
            </a:r>
            <a:r>
              <a:rPr lang="fr-CA" dirty="0"/>
              <a:t> </a:t>
            </a:r>
            <a:r>
              <a:rPr lang="fr-CA" dirty="0" err="1"/>
              <a:t>address</a:t>
            </a:r>
            <a:r>
              <a:rPr lang="fr-CA" dirty="0"/>
              <a:t> profile </a:t>
            </a:r>
            <a:r>
              <a:rPr lang="fr-CA" dirty="0" err="1"/>
              <a:t>registry</a:t>
            </a:r>
            <a:r>
              <a:rPr lang="fr-CA" dirty="0"/>
              <a:t> </a:t>
            </a:r>
            <a:r>
              <a:rPr lang="fr-CA" dirty="0" err="1"/>
              <a:t>requirements</a:t>
            </a:r>
            <a:r>
              <a:rPr lang="fr-CA" dirty="0"/>
              <a:t> </a:t>
            </a:r>
            <a:r>
              <a:rPr lang="fr-CA" dirty="0" err="1"/>
              <a:t>belong</a:t>
            </a:r>
            <a:r>
              <a:rPr lang="fr-CA" dirty="0"/>
              <a:t> in </a:t>
            </a:r>
            <a:r>
              <a:rPr lang="fr-CA" dirty="0" err="1"/>
              <a:t>this</a:t>
            </a:r>
            <a:r>
              <a:rPr lang="fr-CA" dirty="0"/>
              <a:t> document</a:t>
            </a:r>
          </a:p>
        </p:txBody>
      </p:sp>
    </p:spTree>
    <p:extLst>
      <p:ext uri="{BB962C8B-B14F-4D97-AF65-F5344CB8AC3E}">
        <p14:creationId xmlns:p14="http://schemas.microsoft.com/office/powerpoint/2010/main" val="3032847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1616594-E7F1-4EA8-BA36-523707A3F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Schedule</a:t>
            </a:r>
          </a:p>
          <a:p>
            <a:pPr lvl="1"/>
            <a:r>
              <a:rPr lang="fr-CA" dirty="0">
                <a:solidFill>
                  <a:srgbClr val="FF0000"/>
                </a:solidFill>
              </a:rPr>
              <a:t>WD: 2020-02-01</a:t>
            </a:r>
          </a:p>
          <a:p>
            <a:pPr lvl="1"/>
            <a:r>
              <a:rPr lang="fr-CA" dirty="0">
                <a:solidFill>
                  <a:srgbClr val="FF0000"/>
                </a:solidFill>
              </a:rPr>
              <a:t>CD: 2020-06-01</a:t>
            </a:r>
          </a:p>
          <a:p>
            <a:pPr lvl="1"/>
            <a:r>
              <a:rPr lang="fr-CA" dirty="0">
                <a:solidFill>
                  <a:srgbClr val="FF0000"/>
                </a:solidFill>
              </a:rPr>
              <a:t>DIS: 2020-10-01</a:t>
            </a:r>
          </a:p>
          <a:p>
            <a:pPr lvl="1"/>
            <a:endParaRPr lang="fr-CA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ED8923D2-C7F0-42C1-9426-D7344FF2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tabLst>
                <a:tab pos="3997325" algn="l"/>
              </a:tabLst>
            </a:pPr>
            <a:r>
              <a:rPr lang="en-US" altLang="en-US" dirty="0">
                <a:latin typeface="Arial" charset="0"/>
                <a:cs typeface="Arial" charset="0"/>
              </a:rPr>
              <a:t>WG7/19160-6	</a:t>
            </a:r>
            <a:r>
              <a:rPr lang="en-US" altLang="en-US" i="1" dirty="0">
                <a:latin typeface="Arial" charset="0"/>
                <a:cs typeface="Arial" charset="0"/>
              </a:rPr>
              <a:t>Ronald Tse (CalConnect)</a:t>
            </a:r>
            <a:endParaRPr lang="fr-CA" sz="240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CD6B89-A79C-4B45-BB9B-9B40CF44599C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fr-CA" dirty="0" err="1"/>
              <a:t>Resolution</a:t>
            </a:r>
            <a:r>
              <a:rPr lang="fr-CA" dirty="0"/>
              <a:t>(s) </a:t>
            </a:r>
            <a:r>
              <a:rPr lang="fr-CA" dirty="0" err="1"/>
              <a:t>required</a:t>
            </a:r>
            <a:r>
              <a:rPr lang="fr-CA" dirty="0"/>
              <a:t> </a:t>
            </a:r>
            <a:r>
              <a:rPr lang="fr-CA" dirty="0" err="1"/>
              <a:t>from</a:t>
            </a:r>
            <a:r>
              <a:rPr lang="fr-CA" dirty="0"/>
              <a:t> the </a:t>
            </a:r>
            <a:r>
              <a:rPr lang="fr-CA" dirty="0" err="1"/>
              <a:t>plenary</a:t>
            </a:r>
            <a:endParaRPr lang="fr-CA" dirty="0"/>
          </a:p>
          <a:p>
            <a:pPr lvl="1"/>
            <a:r>
              <a:rPr lang="fr-CA" dirty="0"/>
              <a:t>Extension of </a:t>
            </a:r>
            <a:r>
              <a:rPr lang="fr-CA" dirty="0" err="1"/>
              <a:t>schedule</a:t>
            </a: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164171282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Template_2015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>
        <a:defPPr>
          <a:defRPr dirty="0" smtClean="0">
            <a:solidFill>
              <a:srgbClr val="376092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PresentationTemplate_2015</Template>
  <TotalTime>63</TotalTime>
  <Words>91</Words>
  <Application>Microsoft Macintosh PowerPoint</Application>
  <PresentationFormat>On-screen Show (4:3)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PresentationTemplate_2015</vt:lpstr>
      <vt:lpstr>WG7/19160-6 Ronald Tse (CalConnect)</vt:lpstr>
      <vt:lpstr>WG7/19160-6 Ronald Tse (CalConnect)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space for two lines in case the heading is long.</dc:title>
  <dc:creator>Liesel Lange</dc:creator>
  <cp:lastModifiedBy>Ronald Tse</cp:lastModifiedBy>
  <cp:revision>10</cp:revision>
  <dcterms:created xsi:type="dcterms:W3CDTF">2015-02-05T13:06:45Z</dcterms:created>
  <dcterms:modified xsi:type="dcterms:W3CDTF">2019-12-11T02:28:20Z</dcterms:modified>
</cp:coreProperties>
</file>